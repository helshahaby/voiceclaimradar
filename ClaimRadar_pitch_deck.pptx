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BUILDERS &amp; BREWS / NEBIUS + TAVILY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36192"/>
            <a:ext cx="54864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5400" b="1">
                <a:solidFill>
                  <a:srgbClr val="F5FAFF"/>
                </a:solidFill>
                <a:latin typeface="Aptos Display"/>
              </a:rPr>
              <a:t>ClaimRadar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32888"/>
            <a:ext cx="54864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A8B5C6"/>
                </a:solidFill>
                <a:latin typeface="Aptos"/>
              </a:rPr>
              <a:t>Voice-first opportunity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82112"/>
            <a:ext cx="43891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4F1C8"/>
                </a:solidFill>
                <a:latin typeface="Aptos"/>
              </a:rPr>
              <a:t>Hossam Elshahaby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603504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F5FAFF"/>
                </a:solidFill>
                <a:latin typeface="Aptos"/>
              </a:rPr>
              <a:t>Find opportunities, verify fit, and prepare the next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188720"/>
            <a:ext cx="3520440" cy="3520440"/>
          </a:xfrm>
          <a:prstGeom prst="roundRect">
            <a:avLst/>
          </a:prstGeom>
          <a:solidFill>
            <a:srgbClr val="0F233D"/>
          </a:solidFill>
          <a:ln>
            <a:solidFill>
              <a:srgbClr val="375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12848"/>
            <a:ext cx="19202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4600" b="1">
                <a:solidFill>
                  <a:srgbClr val="14F1C8"/>
                </a:solidFill>
                <a:latin typeface="Aptos Display"/>
              </a:rPr>
              <a:t>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010912"/>
            <a:ext cx="32918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600" b="0">
                <a:solidFill>
                  <a:srgbClr val="A8B5C6"/>
                </a:solidFill>
                <a:latin typeface="Aptos"/>
              </a:rPr>
              <a:t>Voice agent with live web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84124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Aptos Display"/>
              </a:rPr>
              <a:t>Opportunity discovery is scattered</a:t>
            </a:r>
          </a:p>
        </p:txBody>
      </p:sp>
      <p:sp>
        <p:nvSpPr>
          <p:cNvPr id="6" name="problem_1"/>
          <p:cNvSpPr txBox="1"/>
          <p:nvPr/>
        </p:nvSpPr>
        <p:spPr>
          <a:xfrm>
            <a:off x="777240" y="1572768"/>
            <a:ext cx="612648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Relevant programs live across event pages, job boards, PDFs, newsletters, and social posts.</a:t>
            </a:r>
          </a:p>
        </p:txBody>
      </p:sp>
      <p:sp>
        <p:nvSpPr>
          <p:cNvPr id="7" name="problem_2"/>
          <p:cNvSpPr txBox="1"/>
          <p:nvPr/>
        </p:nvSpPr>
        <p:spPr>
          <a:xfrm>
            <a:off x="777240" y="2176272"/>
            <a:ext cx="612648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Users lose time checking deadlines, eligibility, cost, location, and required documents.</a:t>
            </a:r>
          </a:p>
        </p:txBody>
      </p:sp>
      <p:sp>
        <p:nvSpPr>
          <p:cNvPr id="8" name="problem_3"/>
          <p:cNvSpPr txBox="1"/>
          <p:nvPr/>
        </p:nvSpPr>
        <p:spPr>
          <a:xfrm>
            <a:off x="777240" y="2779776"/>
            <a:ext cx="612648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High-fit opportunities often disappear before the user prepares an application.</a:t>
            </a:r>
          </a:p>
        </p:txBody>
      </p:sp>
      <p:sp>
        <p:nvSpPr>
          <p:cNvPr id="9" name="problem_4"/>
          <p:cNvSpPr txBox="1"/>
          <p:nvPr/>
        </p:nvSpPr>
        <p:spPr>
          <a:xfrm>
            <a:off x="777240" y="3383280"/>
            <a:ext cx="612648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People without strong networks need a practical way to find and act on opportunities.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00200"/>
            <a:ext cx="3657600" cy="105156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Manual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58568"/>
            <a:ext cx="3200400" cy="301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Many tabs, repeated checks, no clear next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852928"/>
            <a:ext cx="3657600" cy="105156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035808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Missed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11296"/>
            <a:ext cx="3200400" cy="301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Good matches are found after the deadline or too late to apply.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105656"/>
            <a:ext cx="3657600" cy="105156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288536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Weak follow-through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64024"/>
            <a:ext cx="3200400" cy="3017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Discovery rarely becomes a finished email or application.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2/6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4" dur="4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6" dur="4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8" dur="4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0" dur="4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  <p:prevCondLst/>
                <p:nextCondLst/>
              </p:cTn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SOLUTION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84124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Aptos Display"/>
              </a:rPr>
              <a:t>A voice agent for verified opportunities</a:t>
            </a:r>
          </a:p>
        </p:txBody>
      </p:sp>
      <p:sp>
        <p:nvSpPr>
          <p:cNvPr id="6" name="solution_1"/>
          <p:cNvSpPr txBox="1"/>
          <p:nvPr/>
        </p:nvSpPr>
        <p:spPr>
          <a:xfrm>
            <a:off x="777240" y="1517904"/>
            <a:ext cx="6080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Tavily searches the live web and extracts source details.</a:t>
            </a:r>
          </a:p>
        </p:txBody>
      </p:sp>
      <p:sp>
        <p:nvSpPr>
          <p:cNvPr id="7" name="solution_2"/>
          <p:cNvSpPr txBox="1"/>
          <p:nvPr/>
        </p:nvSpPr>
        <p:spPr>
          <a:xfrm>
            <a:off x="777240" y="2121408"/>
            <a:ext cx="6080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Nebius ranks results by fit, urgency, impact, effort, and confidence.</a:t>
            </a:r>
          </a:p>
        </p:txBody>
      </p:sp>
      <p:sp>
        <p:nvSpPr>
          <p:cNvPr id="8" name="solution_3"/>
          <p:cNvSpPr txBox="1"/>
          <p:nvPr/>
        </p:nvSpPr>
        <p:spPr>
          <a:xfrm>
            <a:off x="777240" y="2724912"/>
            <a:ext cx="6080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ElevenLabs gives the product a professional voice interface.</a:t>
            </a:r>
          </a:p>
        </p:txBody>
      </p:sp>
      <p:sp>
        <p:nvSpPr>
          <p:cNvPr id="9" name="solution_4"/>
          <p:cNvSpPr txBox="1"/>
          <p:nvPr/>
        </p:nvSpPr>
        <p:spPr>
          <a:xfrm>
            <a:off x="777240" y="3328415"/>
            <a:ext cx="608076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ClaimRadar saves transcripts, opportunity briefs, and next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53312"/>
            <a:ext cx="3886200" cy="93268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536192"/>
            <a:ext cx="3429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Secure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01952"/>
            <a:ext cx="3383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50">
                <a:solidFill>
                  <a:srgbClr val="A8B5C6"/>
                </a:solidFill>
              </a:rPr>
              <a:t>Keys stay in backend secrets.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468880"/>
            <a:ext cx="3886200" cy="93268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651760"/>
            <a:ext cx="3429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Voice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3383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50">
                <a:solidFill>
                  <a:srgbClr val="A8B5C6"/>
                </a:solidFill>
              </a:rPr>
              <a:t>Mic, mute, captions, transcript, and call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584448"/>
            <a:ext cx="3886200" cy="93268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767328"/>
            <a:ext cx="3429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Action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133088"/>
            <a:ext cx="3383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50">
                <a:solidFill>
                  <a:srgbClr val="A8B5C6"/>
                </a:solidFill>
              </a:rPr>
              <a:t>Ranked cards, source links, and next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700016"/>
            <a:ext cx="3886200" cy="93268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4882896"/>
            <a:ext cx="3429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Design modes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5248656"/>
            <a:ext cx="338328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250">
                <a:solidFill>
                  <a:srgbClr val="A8B5C6"/>
                </a:solidFill>
              </a:rPr>
              <a:t>Executive, Nordic, and startup UI options.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3/6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4" dur="4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6" dur="4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8" dur="4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0" dur="4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  <p:prevCondLst/>
                <p:nextCondLst/>
              </p:cTn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84124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Aptos Display"/>
              </a:rPr>
              <a:t>ClaimRadar turns access into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36192"/>
            <a:ext cx="3246120" cy="120700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28216"/>
            <a:ext cx="621792" cy="384048"/>
          </a:xfrm>
          <a:prstGeom prst="roundRect">
            <a:avLst/>
          </a:prstGeom>
          <a:solidFill>
            <a:srgbClr val="0B2F5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1792224"/>
            <a:ext cx="5486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50" b="1">
                <a:solidFill>
                  <a:srgbClr val="3B82F6"/>
                </a:solidFill>
                <a:latin typeface="Aptos"/>
              </a:rPr>
              <a:t>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719072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Students and job seekers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Find internships, free certifications, scholarships, and programs before deadlines close.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36192"/>
            <a:ext cx="3246120" cy="120700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728216"/>
            <a:ext cx="621792" cy="384048"/>
          </a:xfrm>
          <a:prstGeom prst="roundRect">
            <a:avLst/>
          </a:prstGeom>
          <a:solidFill>
            <a:srgbClr val="0B2F5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5486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50" b="1">
                <a:solidFill>
                  <a:srgbClr val="3B82F6"/>
                </a:solidFill>
                <a:latin typeface="Aptos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1719072"/>
            <a:ext cx="2075687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Researchers and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194560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Track hackathons, fellowships, grants, datasets, and calls for proposals.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536192"/>
            <a:ext cx="3246120" cy="1207008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1" y="1728216"/>
            <a:ext cx="621792" cy="384048"/>
          </a:xfrm>
          <a:prstGeom prst="roundRect">
            <a:avLst/>
          </a:prstGeom>
          <a:solidFill>
            <a:srgbClr val="0B2F5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792224"/>
            <a:ext cx="5486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250" b="1">
                <a:solidFill>
                  <a:srgbClr val="3B82F6"/>
                </a:solidFill>
                <a:latin typeface="Aptos"/>
              </a:rPr>
              <a:t>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1719072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Career centers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194560"/>
            <a:ext cx="278892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Offer verified opportunity intelligence instead of static newsletters.</a:t>
            </a:r>
          </a:p>
        </p:txBody>
      </p:sp>
      <p:sp>
        <p:nvSpPr>
          <p:cNvPr id="21" name="impact_1"/>
          <p:cNvSpPr txBox="1"/>
          <p:nvPr/>
        </p:nvSpPr>
        <p:spPr>
          <a:xfrm>
            <a:off x="960120" y="3867912"/>
            <a:ext cx="98755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Less time spent searching across disconnected sources.</a:t>
            </a:r>
          </a:p>
        </p:txBody>
      </p:sp>
      <p:sp>
        <p:nvSpPr>
          <p:cNvPr id="22" name="impact_2"/>
          <p:cNvSpPr txBox="1"/>
          <p:nvPr/>
        </p:nvSpPr>
        <p:spPr>
          <a:xfrm>
            <a:off x="960120" y="4471416"/>
            <a:ext cx="98755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More trust because each recommendation includes a reason and source.</a:t>
            </a:r>
          </a:p>
        </p:txBody>
      </p:sp>
      <p:sp>
        <p:nvSpPr>
          <p:cNvPr id="23" name="impact_3"/>
          <p:cNvSpPr txBox="1"/>
          <p:nvPr/>
        </p:nvSpPr>
        <p:spPr>
          <a:xfrm>
            <a:off x="960120" y="5074920"/>
            <a:ext cx="98755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A8B5C6"/>
                </a:solidFill>
                <a:latin typeface="Aptos"/>
              </a:rPr>
              <a:t>Better follow-through because the agent prepares the first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4/6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4" dur="4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6" dur="4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8" dur="4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  <p:prevCondLst/>
                <p:nextCondLst/>
              </p:cTn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94944"/>
            <a:ext cx="841248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Aptos Display"/>
              </a:rPr>
              <a:t>Live app walkthrough</a:t>
            </a:r>
          </a:p>
        </p:txBody>
      </p:sp>
      <p:sp>
        <p:nvSpPr>
          <p:cNvPr id="6" name="demo_1"/>
          <p:cNvSpPr txBox="1"/>
          <p:nvPr/>
        </p:nvSpPr>
        <p:spPr>
          <a:xfrm>
            <a:off x="685800" y="1417320"/>
            <a:ext cx="43891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50" b="0">
                <a:solidFill>
                  <a:srgbClr val="A8B5C6"/>
                </a:solidFill>
                <a:latin typeface="Aptos"/>
              </a:rPr>
              <a:t>Open the app and choose the voice-agent experience.</a:t>
            </a:r>
          </a:p>
        </p:txBody>
      </p:sp>
      <p:sp>
        <p:nvSpPr>
          <p:cNvPr id="7" name="demo_2"/>
          <p:cNvSpPr txBox="1"/>
          <p:nvPr/>
        </p:nvSpPr>
        <p:spPr>
          <a:xfrm>
            <a:off x="685800" y="2020824"/>
            <a:ext cx="43891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50" b="0">
                <a:solidFill>
                  <a:srgbClr val="A8B5C6"/>
                </a:solidFill>
                <a:latin typeface="Aptos"/>
              </a:rPr>
              <a:t>Search opportunities by voice or text.</a:t>
            </a:r>
          </a:p>
        </p:txBody>
      </p:sp>
      <p:sp>
        <p:nvSpPr>
          <p:cNvPr id="8" name="demo_3"/>
          <p:cNvSpPr txBox="1"/>
          <p:nvPr/>
        </p:nvSpPr>
        <p:spPr>
          <a:xfrm>
            <a:off x="685800" y="2624328"/>
            <a:ext cx="43891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50" b="0">
                <a:solidFill>
                  <a:srgbClr val="A8B5C6"/>
                </a:solidFill>
                <a:latin typeface="Aptos"/>
              </a:rPr>
              <a:t>Review ranked opportunity cards with verified signals.</a:t>
            </a:r>
          </a:p>
        </p:txBody>
      </p:sp>
      <p:sp>
        <p:nvSpPr>
          <p:cNvPr id="9" name="demo_4"/>
          <p:cNvSpPr txBox="1"/>
          <p:nvPr/>
        </p:nvSpPr>
        <p:spPr>
          <a:xfrm>
            <a:off x="685800" y="3227832"/>
            <a:ext cx="438912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50" b="0">
                <a:solidFill>
                  <a:srgbClr val="A8B5C6"/>
                </a:solidFill>
                <a:latin typeface="Aptos"/>
              </a:rPr>
              <a:t>Save the transcript and prepare the next application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143000"/>
            <a:ext cx="6355080" cy="4709160"/>
          </a:xfrm>
          <a:prstGeom prst="roundRect">
            <a:avLst/>
          </a:prstGeom>
          <a:solidFill>
            <a:srgbClr val="0B182C"/>
          </a:solidFill>
          <a:ln>
            <a:solidFill>
              <a:srgbClr val="31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shot 2026-09-25 2236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252728"/>
            <a:ext cx="6135624" cy="44564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66360" y="5989320"/>
            <a:ext cx="585216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0">
                <a:solidFill>
                  <a:srgbClr val="A8B5C6"/>
                </a:solidFill>
                <a:latin typeface="Aptos"/>
              </a:rPr>
              <a:t>Real ClaimRadar app screen from the Lovable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5/6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4" dur="450" fill="hold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6" dur="4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8" dur="4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animEffect transition="in" filter="fade">
                          <p:cBhvr>
                            <p:cTn id="10" dur="4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  <p:prevCondLst/>
                <p:nextCondLst/>
              </p:cTn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280160"/>
            <a:ext cx="4937760" cy="49377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572000"/>
            <a:ext cx="3566160" cy="3566160"/>
          </a:xfrm>
          <a:prstGeom prst="ellipse">
            <a:avLst/>
          </a:prstGeom>
          <a:solidFill>
            <a:srgbClr val="08223E"/>
          </a:solidFill>
          <a:ln>
            <a:solidFill>
              <a:srgbClr val="12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7548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50" b="1">
                <a:solidFill>
                  <a:srgbClr val="14F1C8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50292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5600" b="1">
                <a:solidFill>
                  <a:srgbClr val="F5FAFF"/>
                </a:solidFill>
                <a:latin typeface="Aptos Display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64008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A8B5C6"/>
                </a:solidFill>
                <a:latin typeface="Aptos"/>
              </a:rPr>
              <a:t>ClaimRadar helps people act on opportunities before deadlines disappear.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55848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14F1C8"/>
                </a:solidFill>
                <a:latin typeface="Aptos"/>
              </a:rPr>
              <a:t>Hossam Elshahaby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1304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A8B5C6"/>
                </a:solidFill>
                <a:latin typeface="Aptos"/>
              </a:rPr>
              <a:t>Gothenburg, Sweden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91640"/>
            <a:ext cx="3703320" cy="100584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874520"/>
            <a:ext cx="3246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50008"/>
            <a:ext cx="32461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https://ai-palette-chooser.lovable.app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907792"/>
            <a:ext cx="3703320" cy="100584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090672"/>
            <a:ext cx="3246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Demo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566160"/>
            <a:ext cx="32461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https://youtu.be/wzWk1DUPPvc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123944"/>
            <a:ext cx="3703320" cy="1005840"/>
          </a:xfrm>
          <a:prstGeom prst="roundRect">
            <a:avLst/>
          </a:prstGeom>
          <a:solidFill>
            <a:srgbClr val="0B182C"/>
          </a:solidFill>
          <a:ln>
            <a:solidFill>
              <a:srgbClr val="26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306824"/>
            <a:ext cx="3246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50" b="1">
                <a:solidFill>
                  <a:srgbClr val="F5FAFF"/>
                </a:solidFill>
                <a:latin typeface="Aptos"/>
              </a:rPr>
              <a:t>Next 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782312"/>
            <a:ext cx="32461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50" b="0">
                <a:solidFill>
                  <a:srgbClr val="A8B5C6"/>
                </a:solidFill>
                <a:latin typeface="Aptos"/>
              </a:rPr>
              <a:t>Connect production APIs and test with real applicants.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46520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50" b="0">
                <a:solidFill>
                  <a:srgbClr val="768496"/>
                </a:solidFill>
                <a:latin typeface="Aptos"/>
              </a:rPr>
              <a:t>ClaimRadar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